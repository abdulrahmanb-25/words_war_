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ra Hamah Hom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562210" y="4698462"/>
            <a:ext cx="12768756" cy="890076"/>
            <a:chOff x="0" y="0"/>
            <a:chExt cx="15856625" cy="11053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56626" cy="1117442"/>
            </a:xfrm>
            <a:custGeom>
              <a:avLst/>
              <a:gdLst/>
              <a:ahLst/>
              <a:cxnLst/>
              <a:rect r="r" b="b" t="t" l="l"/>
              <a:pathLst>
                <a:path h="1117442" w="15856626">
                  <a:moveTo>
                    <a:pt x="181565" y="12632"/>
                  </a:moveTo>
                  <a:lnTo>
                    <a:pt x="132300" y="16059"/>
                  </a:lnTo>
                  <a:cubicBezTo>
                    <a:pt x="125960" y="16500"/>
                    <a:pt x="121043" y="21772"/>
                    <a:pt x="121043" y="28126"/>
                  </a:cubicBezTo>
                  <a:lnTo>
                    <a:pt x="121043" y="39411"/>
                  </a:lnTo>
                  <a:cubicBezTo>
                    <a:pt x="121043" y="47166"/>
                    <a:pt x="91148" y="62017"/>
                    <a:pt x="60522" y="69474"/>
                  </a:cubicBezTo>
                  <a:lnTo>
                    <a:pt x="30261" y="76843"/>
                  </a:lnTo>
                  <a:cubicBezTo>
                    <a:pt x="14949" y="80571"/>
                    <a:pt x="0" y="87997"/>
                    <a:pt x="0" y="91875"/>
                  </a:cubicBezTo>
                  <a:lnTo>
                    <a:pt x="0" y="1001816"/>
                  </a:lnTo>
                  <a:cubicBezTo>
                    <a:pt x="0" y="1015380"/>
                    <a:pt x="32949" y="1047636"/>
                    <a:pt x="60522" y="1061063"/>
                  </a:cubicBezTo>
                  <a:lnTo>
                    <a:pt x="108940" y="1084642"/>
                  </a:lnTo>
                  <a:cubicBezTo>
                    <a:pt x="116438" y="1088294"/>
                    <a:pt x="144072" y="1092139"/>
                    <a:pt x="181565" y="1094748"/>
                  </a:cubicBezTo>
                  <a:lnTo>
                    <a:pt x="211825" y="1096853"/>
                  </a:lnTo>
                  <a:cubicBezTo>
                    <a:pt x="230850" y="1098177"/>
                    <a:pt x="257887" y="1099074"/>
                    <a:pt x="284645" y="1099270"/>
                  </a:cubicBezTo>
                  <a:lnTo>
                    <a:pt x="838320" y="1103325"/>
                  </a:lnTo>
                  <a:cubicBezTo>
                    <a:pt x="1082670" y="1105114"/>
                    <a:pt x="1703026" y="1117442"/>
                    <a:pt x="1948727" y="1117442"/>
                  </a:cubicBezTo>
                  <a:lnTo>
                    <a:pt x="13977108" y="1117442"/>
                  </a:lnTo>
                  <a:cubicBezTo>
                    <a:pt x="14220200" y="1117442"/>
                    <a:pt x="14828242" y="1105037"/>
                    <a:pt x="15069846" y="1103169"/>
                  </a:cubicBezTo>
                  <a:lnTo>
                    <a:pt x="15529474" y="1099616"/>
                  </a:lnTo>
                  <a:cubicBezTo>
                    <a:pt x="15582838" y="1099203"/>
                    <a:pt x="15637095" y="1097389"/>
                    <a:pt x="15675060" y="1094748"/>
                  </a:cubicBezTo>
                  <a:lnTo>
                    <a:pt x="15721065" y="1091547"/>
                  </a:lnTo>
                  <a:cubicBezTo>
                    <a:pt x="15729241" y="1090978"/>
                    <a:pt x="15735582" y="1084181"/>
                    <a:pt x="15735582" y="1075986"/>
                  </a:cubicBezTo>
                  <a:lnTo>
                    <a:pt x="15735582" y="1059420"/>
                  </a:lnTo>
                  <a:cubicBezTo>
                    <a:pt x="15735582" y="1050018"/>
                    <a:pt x="15766788" y="1030241"/>
                    <a:pt x="15796104" y="1021063"/>
                  </a:cubicBezTo>
                  <a:lnTo>
                    <a:pt x="15826364" y="1011589"/>
                  </a:lnTo>
                  <a:cubicBezTo>
                    <a:pt x="15841022" y="1007000"/>
                    <a:pt x="15856626" y="997111"/>
                    <a:pt x="15856626" y="992410"/>
                  </a:cubicBezTo>
                  <a:lnTo>
                    <a:pt x="15856626" y="158306"/>
                  </a:lnTo>
                  <a:cubicBezTo>
                    <a:pt x="15856626" y="136289"/>
                    <a:pt x="15806776" y="82886"/>
                    <a:pt x="15765842" y="61053"/>
                  </a:cubicBezTo>
                  <a:lnTo>
                    <a:pt x="15687900" y="19480"/>
                  </a:lnTo>
                  <a:cubicBezTo>
                    <a:pt x="15679463" y="14980"/>
                    <a:pt x="15670070" y="12574"/>
                    <a:pt x="15660509" y="12463"/>
                  </a:cubicBezTo>
                  <a:lnTo>
                    <a:pt x="14600224" y="169"/>
                  </a:lnTo>
                  <a:cubicBezTo>
                    <a:pt x="14590523" y="56"/>
                    <a:pt x="14580822" y="0"/>
                    <a:pt x="14571121" y="0"/>
                  </a:cubicBezTo>
                  <a:lnTo>
                    <a:pt x="1879518" y="0"/>
                  </a:lnTo>
                  <a:cubicBezTo>
                    <a:pt x="1636425" y="0"/>
                    <a:pt x="1028383" y="2343"/>
                    <a:pt x="786780" y="4211"/>
                  </a:cubicBezTo>
                  <a:lnTo>
                    <a:pt x="327151" y="7764"/>
                  </a:lnTo>
                  <a:cubicBezTo>
                    <a:pt x="273787" y="8176"/>
                    <a:pt x="219531" y="9990"/>
                    <a:pt x="181565" y="12632"/>
                  </a:cubicBezTo>
                  <a:lnTo>
                    <a:pt x="0" y="0"/>
                  </a:lnTo>
                  <a:cubicBezTo>
                    <a:pt x="0" y="0"/>
                    <a:pt x="181565" y="12632"/>
                    <a:pt x="181565" y="12632"/>
                  </a:cubicBezTo>
                  <a:close/>
                </a:path>
              </a:pathLst>
            </a:custGeom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5856625" cy="11719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4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716061" y="8734425"/>
            <a:ext cx="4855878" cy="523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4A32B2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Tuwaiq Academy - 2026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7563" y="7019655"/>
            <a:ext cx="3816243" cy="2973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95"/>
              </a:lnSpc>
            </a:pPr>
            <a:r>
              <a:rPr lang="en-US" sz="421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Team Members</a:t>
            </a:r>
          </a:p>
          <a:p>
            <a:pPr algn="l" marL="685830" indent="-342915" lvl="1">
              <a:lnSpc>
                <a:spcPts val="4447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M</a:t>
            </a:r>
            <a:r>
              <a:rPr lang="en-US" sz="3176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ohamme</a:t>
            </a:r>
            <a:r>
              <a:rPr lang="en-US" sz="3176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 Al-Buraq</a:t>
            </a:r>
          </a:p>
          <a:p>
            <a:pPr algn="l" marL="685830" indent="-342915" lvl="1">
              <a:lnSpc>
                <a:spcPts val="4447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Mohammed Al-Somali</a:t>
            </a:r>
          </a:p>
          <a:p>
            <a:pPr algn="l" marL="685830" indent="-342915" lvl="1">
              <a:lnSpc>
                <a:spcPts val="4447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Abdulrahman </a:t>
            </a:r>
            <a:r>
              <a:rPr lang="en-US" sz="3176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Bajunaid</a:t>
            </a:r>
          </a:p>
          <a:p>
            <a:pPr algn="l" marL="685830" indent="-342915" lvl="1">
              <a:lnSpc>
                <a:spcPts val="4447"/>
              </a:lnSpc>
              <a:buFont typeface="Arial"/>
              <a:buChar char="•"/>
            </a:pPr>
            <a:r>
              <a:rPr lang="en-US" sz="3176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Nawaf Alorabi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459" y="596355"/>
            <a:ext cx="11016263" cy="2502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83"/>
              </a:lnSpc>
            </a:pPr>
            <a:r>
              <a:rPr lang="en-US" sz="14630">
                <a:gradFill>
                  <a:gsLst>
                    <a:gs pos="0">
                      <a:srgbClr val="8461F4">
                        <a:alpha val="100000"/>
                      </a:srgbClr>
                    </a:gs>
                    <a:gs pos="100000">
                      <a:srgbClr val="81D8E5">
                        <a:alpha val="100000"/>
                      </a:srgbClr>
                    </a:gs>
                  </a:gsLst>
                  <a:lin ang="0"/>
                </a:gradFill>
                <a:latin typeface="Ara Hamah Homs"/>
                <a:ea typeface="Ara Hamah Homs"/>
                <a:cs typeface="Ara Hamah Homs"/>
                <a:sym typeface="Ara Hamah Homs"/>
              </a:rPr>
              <a:t>Words War game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8197" y="3897302"/>
            <a:ext cx="16317339" cy="2530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5"/>
              </a:lnSpc>
            </a:pPr>
            <a:r>
              <a:rPr lang="en-US" sz="7253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 Pyt</a:t>
            </a:r>
            <a:r>
              <a:rPr lang="en-US" sz="7253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hon Project for </a:t>
            </a:r>
          </a:p>
          <a:p>
            <a:pPr algn="ctr">
              <a:lnSpc>
                <a:spcPts val="10155"/>
              </a:lnSpc>
            </a:pPr>
            <a:r>
              <a:rPr lang="en-US" sz="7253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Competitive Vocabulary Learning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21467" y="1095375"/>
            <a:ext cx="12963984" cy="151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04"/>
              </a:lnSpc>
            </a:pPr>
            <a:r>
              <a:rPr lang="en-US" sz="10446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ABOUT THE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6714" y="2903761"/>
            <a:ext cx="9975862" cy="1122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417729" indent="-708865" lvl="1">
              <a:lnSpc>
                <a:spcPts val="9193"/>
              </a:lnSpc>
              <a:buFont typeface="Arial"/>
              <a:buChar char="•"/>
            </a:pPr>
            <a:r>
              <a:rPr lang="en-US" sz="6566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What is WORDS WAR GAME?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5515" y="4321691"/>
            <a:ext cx="11677125" cy="3897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0"/>
              </a:lnSpc>
            </a:pPr>
            <a:r>
              <a:rPr lang="en-US" sz="5521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WORDS WAR GAME is a competitive educational game built using Python and Streamlit .</a:t>
            </a:r>
          </a:p>
          <a:p>
            <a:pPr algn="l">
              <a:lnSpc>
                <a:spcPts val="7730"/>
              </a:lnSpc>
            </a:pPr>
            <a:r>
              <a:rPr lang="en-US" sz="5521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Players enter English words and compete based</a:t>
            </a:r>
            <a:r>
              <a:rPr lang="en-US" sz="5521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on rules.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03598" y="3385688"/>
            <a:ext cx="14541004" cy="5610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73108" indent="-686554" lvl="1">
              <a:lnSpc>
                <a:spcPts val="8903"/>
              </a:lnSpc>
              <a:buFont typeface="Arial"/>
              <a:buChar char="•"/>
            </a:pPr>
            <a:r>
              <a:rPr lang="en-US" sz="635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The main goal of this project is to:</a:t>
            </a:r>
          </a:p>
          <a:p>
            <a:pPr algn="l" marL="1373108" indent="-686554" lvl="1">
              <a:lnSpc>
                <a:spcPts val="8903"/>
              </a:lnSpc>
              <a:buFont typeface="Arial"/>
              <a:buChar char="•"/>
            </a:pPr>
            <a:r>
              <a:rPr lang="en-US" sz="635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Apply Python concepts in a real project</a:t>
            </a:r>
          </a:p>
          <a:p>
            <a:pPr algn="l" marL="1373108" indent="-686554" lvl="1">
              <a:lnSpc>
                <a:spcPts val="8903"/>
              </a:lnSpc>
              <a:buFont typeface="Arial"/>
              <a:buChar char="•"/>
            </a:pPr>
            <a:r>
              <a:rPr lang="en-US" sz="635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Practice OOP (Object-Oriented Programming) </a:t>
            </a:r>
          </a:p>
          <a:p>
            <a:pPr algn="l" marL="1373108" indent="-686554" lvl="1">
              <a:lnSpc>
                <a:spcPts val="8903"/>
              </a:lnSpc>
              <a:buFont typeface="Arial"/>
              <a:buChar char="•"/>
            </a:pPr>
            <a:r>
              <a:rPr lang="en-US" sz="635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Build an interactive web application using Streamlit</a:t>
            </a:r>
          </a:p>
          <a:p>
            <a:pPr algn="l" marL="1373108" indent="-686554" lvl="1">
              <a:lnSpc>
                <a:spcPts val="8903"/>
              </a:lnSpc>
              <a:buFont typeface="Arial"/>
              <a:buChar char="•"/>
            </a:pPr>
            <a:r>
              <a:rPr lang="en-US" sz="635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Practice quick</a:t>
            </a:r>
            <a:r>
              <a:rPr lang="en-US" sz="635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thinking and spelli</a:t>
            </a:r>
            <a:r>
              <a:rPr lang="en-US" sz="635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ng skills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14425"/>
            <a:ext cx="10843667" cy="1740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96"/>
              </a:lnSpc>
            </a:pPr>
            <a:r>
              <a:rPr lang="en-US" sz="12032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PROJECT OBJECTIVE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64411" y="842620"/>
            <a:ext cx="8328206" cy="128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68"/>
              </a:lnSpc>
            </a:pPr>
            <a:r>
              <a:rPr lang="en-US" sz="8910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PROBLEM STATEM</a:t>
            </a:r>
            <a:r>
              <a:rPr lang="en-US" sz="8910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77587" y="3408959"/>
            <a:ext cx="9956102" cy="6429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0726" indent="-565363" lvl="1">
              <a:lnSpc>
                <a:spcPts val="7332"/>
              </a:lnSpc>
              <a:buFont typeface="Arial"/>
              <a:buChar char="•"/>
            </a:pPr>
            <a:r>
              <a:rPr lang="en-US" sz="523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B</a:t>
            </a:r>
            <a:r>
              <a:rPr lang="en-US" sz="523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o</a:t>
            </a:r>
            <a:r>
              <a:rPr lang="en-US" sz="523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ring</a:t>
            </a:r>
          </a:p>
          <a:p>
            <a:pPr algn="l" marL="1130726" indent="-565363" lvl="1">
              <a:lnSpc>
                <a:spcPts val="7332"/>
              </a:lnSpc>
              <a:buFont typeface="Arial"/>
              <a:buChar char="•"/>
            </a:pPr>
            <a:r>
              <a:rPr lang="en-US" sz="523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Passive</a:t>
            </a:r>
          </a:p>
          <a:p>
            <a:pPr algn="l" marL="1130726" indent="-565363" lvl="1">
              <a:lnSpc>
                <a:spcPts val="7332"/>
              </a:lnSpc>
              <a:buFont typeface="Arial"/>
              <a:buChar char="•"/>
            </a:pPr>
            <a:r>
              <a:rPr lang="en-US" sz="523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N</a:t>
            </a:r>
            <a:r>
              <a:rPr lang="en-US" sz="523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ot</a:t>
            </a:r>
            <a:r>
              <a:rPr lang="en-US" sz="523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interactive</a:t>
            </a:r>
          </a:p>
          <a:p>
            <a:pPr algn="l">
              <a:lnSpc>
                <a:spcPts val="7332"/>
              </a:lnSpc>
            </a:pPr>
            <a:r>
              <a:rPr lang="en-US" sz="5237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Solution:</a:t>
            </a:r>
          </a:p>
          <a:p>
            <a:pPr algn="l">
              <a:lnSpc>
                <a:spcPts val="7332"/>
              </a:lnSpc>
            </a:pPr>
            <a:r>
              <a:rPr lang="en-US" sz="523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Turn vocabulary practice into a competitive word battle game.</a:t>
            </a:r>
          </a:p>
          <a:p>
            <a:pPr algn="l">
              <a:lnSpc>
                <a:spcPts val="7332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66557" y="2420572"/>
            <a:ext cx="11283321" cy="95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198" indent="-604599" lvl="1">
              <a:lnSpc>
                <a:spcPts val="7841"/>
              </a:lnSpc>
              <a:buFont typeface="Arial"/>
              <a:buChar char="•"/>
            </a:pPr>
            <a:r>
              <a:rPr lang="en-US" sz="5600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</a:t>
            </a:r>
            <a:r>
              <a:rPr lang="en-US" sz="5600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raditional vocabulary learning methods are: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253876">
            <a:off x="13975748" y="1194664"/>
            <a:ext cx="1816573" cy="3016356"/>
          </a:xfrm>
          <a:custGeom>
            <a:avLst/>
            <a:gdLst/>
            <a:ahLst/>
            <a:cxnLst/>
            <a:rect r="r" b="b" t="t" l="l"/>
            <a:pathLst>
              <a:path h="3016356" w="1816573">
                <a:moveTo>
                  <a:pt x="1816573" y="0"/>
                </a:moveTo>
                <a:lnTo>
                  <a:pt x="0" y="0"/>
                </a:lnTo>
                <a:lnTo>
                  <a:pt x="0" y="3016355"/>
                </a:lnTo>
                <a:lnTo>
                  <a:pt x="1816573" y="3016355"/>
                </a:lnTo>
                <a:lnTo>
                  <a:pt x="181657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87847" y="752751"/>
            <a:ext cx="6889000" cy="1671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84"/>
              </a:lnSpc>
            </a:pPr>
            <a:r>
              <a:rPr lang="en-US" sz="11579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PROJECT</a:t>
            </a:r>
            <a:r>
              <a:rPr lang="en-US" sz="11579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IDEA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5150" y="3634703"/>
            <a:ext cx="9692634" cy="643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82480" indent="-491240" lvl="1">
              <a:lnSpc>
                <a:spcPts val="6370"/>
              </a:lnSpc>
              <a:buFont typeface="Arial"/>
              <a:buChar char="•"/>
            </a:pPr>
            <a:r>
              <a:rPr lang="en-US" sz="455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</a:t>
            </a:r>
            <a:r>
              <a:rPr lang="en-US" sz="455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wo p</a:t>
            </a:r>
            <a:r>
              <a:rPr lang="en-US" sz="455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layers compete using English words of the same length</a:t>
            </a:r>
          </a:p>
          <a:p>
            <a:pPr algn="l" marL="982480" indent="-491240" lvl="1">
              <a:lnSpc>
                <a:spcPts val="6370"/>
              </a:lnSpc>
              <a:buFont typeface="Arial"/>
              <a:buChar char="•"/>
            </a:pPr>
            <a:r>
              <a:rPr lang="en-US" sz="455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Words are validate</a:t>
            </a:r>
            <a:r>
              <a:rPr lang="en-US" sz="455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 using a real dictionary[WordFreq]</a:t>
            </a:r>
          </a:p>
          <a:p>
            <a:pPr algn="l" marL="982480" indent="-491240" lvl="1">
              <a:lnSpc>
                <a:spcPts val="6370"/>
              </a:lnSpc>
              <a:buFont typeface="Arial"/>
              <a:buChar char="•"/>
            </a:pPr>
            <a:r>
              <a:rPr lang="en-US" sz="455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Words are translated into Arabic[deepTranslate]</a:t>
            </a:r>
          </a:p>
          <a:p>
            <a:pPr algn="l" marL="982480" indent="-491240" lvl="1">
              <a:lnSpc>
                <a:spcPts val="6370"/>
              </a:lnSpc>
              <a:buFont typeface="Arial"/>
              <a:buChar char="•"/>
            </a:pPr>
            <a:r>
              <a:rPr lang="en-US" sz="455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Scores are calculated automatically</a:t>
            </a:r>
          </a:p>
          <a:p>
            <a:pPr algn="l" marL="982480" indent="-491240" lvl="1">
              <a:lnSpc>
                <a:spcPts val="6370"/>
              </a:lnSpc>
              <a:buFont typeface="Arial"/>
              <a:buChar char="•"/>
            </a:pPr>
            <a:r>
              <a:rPr lang="en-US" sz="455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The winner is determined after each 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5150" y="2550076"/>
            <a:ext cx="12220369" cy="1170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17"/>
              </a:lnSpc>
            </a:pPr>
            <a:r>
              <a:rPr lang="en-US" sz="6798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</a:t>
            </a:r>
            <a:r>
              <a:rPr lang="en-US" sz="6798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word-based battle game where: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551812" y="1842542"/>
            <a:ext cx="7647265" cy="8041674"/>
            <a:chOff x="0" y="0"/>
            <a:chExt cx="2107562" cy="22162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7562" cy="2216260"/>
            </a:xfrm>
            <a:custGeom>
              <a:avLst/>
              <a:gdLst/>
              <a:ahLst/>
              <a:cxnLst/>
              <a:rect r="r" b="b" t="t" l="l"/>
              <a:pathLst>
                <a:path h="2216260" w="2107562">
                  <a:moveTo>
                    <a:pt x="17210" y="0"/>
                  </a:moveTo>
                  <a:lnTo>
                    <a:pt x="2090352" y="0"/>
                  </a:lnTo>
                  <a:cubicBezTo>
                    <a:pt x="2099857" y="0"/>
                    <a:pt x="2107562" y="7705"/>
                    <a:pt x="2107562" y="17210"/>
                  </a:cubicBezTo>
                  <a:lnTo>
                    <a:pt x="2107562" y="2199050"/>
                  </a:lnTo>
                  <a:cubicBezTo>
                    <a:pt x="2107562" y="2208555"/>
                    <a:pt x="2099857" y="2216260"/>
                    <a:pt x="2090352" y="2216260"/>
                  </a:cubicBezTo>
                  <a:lnTo>
                    <a:pt x="17210" y="2216260"/>
                  </a:lnTo>
                  <a:cubicBezTo>
                    <a:pt x="7705" y="2216260"/>
                    <a:pt x="0" y="2208555"/>
                    <a:pt x="0" y="2199050"/>
                  </a:cubicBezTo>
                  <a:lnTo>
                    <a:pt x="0" y="17210"/>
                  </a:lnTo>
                  <a:cubicBezTo>
                    <a:pt x="0" y="7705"/>
                    <a:pt x="7705" y="0"/>
                    <a:pt x="1721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82" r="0" b="-182"/>
              </a:stretch>
            </a:blipFill>
            <a:ln w="38100" cap="sq">
              <a:solidFill>
                <a:srgbClr val="7661A8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90925" y="786093"/>
            <a:ext cx="6808399" cy="220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50"/>
              </a:lnSpc>
            </a:pPr>
            <a:r>
              <a:rPr lang="en-US" sz="15177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FEATURES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9016" y="3247224"/>
            <a:ext cx="8976942" cy="174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86067" indent="-543033" lvl="1">
              <a:lnSpc>
                <a:spcPts val="7042"/>
              </a:lnSpc>
              <a:buFont typeface="Arial"/>
              <a:buChar char="•"/>
            </a:pPr>
            <a:r>
              <a:rPr lang="en-US" sz="503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PvP &amp; PvC game modes</a:t>
            </a:r>
          </a:p>
          <a:p>
            <a:pPr algn="just" marL="1086067" indent="-543033" lvl="1">
              <a:lnSpc>
                <a:spcPts val="7042"/>
              </a:lnSpc>
              <a:buFont typeface="Arial"/>
              <a:buChar char="•"/>
            </a:pPr>
            <a:r>
              <a:rPr lang="en-US" sz="5030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Score tracking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9016" y="5033648"/>
            <a:ext cx="9262796" cy="343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57395" indent="-528698" lvl="1">
              <a:lnSpc>
                <a:spcPts val="6856"/>
              </a:lnSpc>
              <a:buFont typeface="Arial"/>
              <a:buChar char="•"/>
            </a:pPr>
            <a:r>
              <a:rPr lang="en-US" sz="489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Fair wor</a:t>
            </a:r>
            <a:r>
              <a:rPr lang="en-US" sz="489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 comparison logic</a:t>
            </a:r>
          </a:p>
          <a:p>
            <a:pPr algn="l" marL="1057395" indent="-528698" lvl="1">
              <a:lnSpc>
                <a:spcPts val="6856"/>
              </a:lnSpc>
              <a:buFont typeface="Arial"/>
              <a:buChar char="•"/>
            </a:pPr>
            <a:r>
              <a:rPr lang="en-US" sz="489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Automatic winner detection</a:t>
            </a:r>
          </a:p>
          <a:p>
            <a:pPr algn="l" marL="1057395" indent="-528698" lvl="1">
              <a:lnSpc>
                <a:spcPts val="6856"/>
              </a:lnSpc>
              <a:buFont typeface="Arial"/>
              <a:buChar char="•"/>
            </a:pPr>
            <a:r>
              <a:rPr lang="en-US" sz="489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Real-time score update after each round</a:t>
            </a:r>
          </a:p>
          <a:p>
            <a:pPr algn="l" marL="1057395" indent="-528698" lvl="1">
              <a:lnSpc>
                <a:spcPts val="6856"/>
              </a:lnSpc>
              <a:buFont typeface="Arial"/>
              <a:buChar char="•"/>
            </a:pPr>
            <a:r>
              <a:rPr lang="en-US" sz="489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OOP-based design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953410" y="1589040"/>
            <a:ext cx="4054640" cy="8315491"/>
            <a:chOff x="0" y="0"/>
            <a:chExt cx="694825" cy="1424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4825" cy="1424987"/>
            </a:xfrm>
            <a:custGeom>
              <a:avLst/>
              <a:gdLst/>
              <a:ahLst/>
              <a:cxnLst/>
              <a:rect r="r" b="b" t="t" l="l"/>
              <a:pathLst>
                <a:path h="1424987" w="694825">
                  <a:moveTo>
                    <a:pt x="28641" y="0"/>
                  </a:moveTo>
                  <a:lnTo>
                    <a:pt x="666184" y="0"/>
                  </a:lnTo>
                  <a:cubicBezTo>
                    <a:pt x="682002" y="0"/>
                    <a:pt x="694825" y="12823"/>
                    <a:pt x="694825" y="28641"/>
                  </a:cubicBezTo>
                  <a:lnTo>
                    <a:pt x="694825" y="1396346"/>
                  </a:lnTo>
                  <a:cubicBezTo>
                    <a:pt x="694825" y="1403942"/>
                    <a:pt x="691807" y="1411227"/>
                    <a:pt x="686436" y="1416599"/>
                  </a:cubicBezTo>
                  <a:cubicBezTo>
                    <a:pt x="681065" y="1421970"/>
                    <a:pt x="673780" y="1424987"/>
                    <a:pt x="666184" y="1424987"/>
                  </a:cubicBezTo>
                  <a:lnTo>
                    <a:pt x="28641" y="1424987"/>
                  </a:lnTo>
                  <a:cubicBezTo>
                    <a:pt x="21045" y="1424987"/>
                    <a:pt x="13760" y="1421970"/>
                    <a:pt x="8389" y="1416599"/>
                  </a:cubicBezTo>
                  <a:cubicBezTo>
                    <a:pt x="3018" y="1411227"/>
                    <a:pt x="0" y="1403942"/>
                    <a:pt x="0" y="1396346"/>
                  </a:cubicBezTo>
                  <a:lnTo>
                    <a:pt x="0" y="28641"/>
                  </a:lnTo>
                  <a:cubicBezTo>
                    <a:pt x="0" y="21045"/>
                    <a:pt x="3018" y="13760"/>
                    <a:pt x="8389" y="8389"/>
                  </a:cubicBezTo>
                  <a:cubicBezTo>
                    <a:pt x="13760" y="3018"/>
                    <a:pt x="21045" y="0"/>
                    <a:pt x="2864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461" r="0" b="-1461"/>
              </a:stretch>
            </a:blipFill>
            <a:ln w="28575" cap="sq">
              <a:solidFill>
                <a:srgbClr val="8C52F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790925" y="757518"/>
            <a:ext cx="10118742" cy="1440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23"/>
              </a:lnSpc>
            </a:pPr>
            <a:r>
              <a:rPr lang="en-US" sz="9932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SCORING SYSTEM LOGIC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0469" y="2802222"/>
            <a:ext cx="6793257" cy="98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56241" indent="-628121" lvl="1">
              <a:lnSpc>
                <a:spcPts val="8146"/>
              </a:lnSpc>
              <a:buFont typeface="Arial"/>
              <a:buChar char="•"/>
            </a:pPr>
            <a:r>
              <a:rPr lang="en-US" sz="5818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Each letter has a value: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2581" y="3703634"/>
            <a:ext cx="2682186" cy="400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83910" indent="-491955" lvl="1">
              <a:lnSpc>
                <a:spcPts val="6380"/>
              </a:lnSpc>
              <a:buFont typeface="Arial"/>
              <a:buChar char="•"/>
            </a:pPr>
            <a:r>
              <a:rPr lang="en-US" sz="455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 =</a:t>
            </a:r>
            <a:r>
              <a:rPr lang="en-US" sz="455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1</a:t>
            </a:r>
          </a:p>
          <a:p>
            <a:pPr algn="l" marL="983910" indent="-491955" lvl="1">
              <a:lnSpc>
                <a:spcPts val="6380"/>
              </a:lnSpc>
              <a:buFont typeface="Arial"/>
              <a:buChar char="•"/>
            </a:pPr>
            <a:r>
              <a:rPr lang="en-US" sz="455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b = 2</a:t>
            </a:r>
          </a:p>
          <a:p>
            <a:pPr algn="l" marL="983910" indent="-491955" lvl="1">
              <a:lnSpc>
                <a:spcPts val="6380"/>
              </a:lnSpc>
              <a:buFont typeface="Arial"/>
              <a:buChar char="•"/>
            </a:pPr>
            <a:r>
              <a:rPr lang="en-US" sz="455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c = 3</a:t>
            </a:r>
          </a:p>
          <a:p>
            <a:pPr algn="l" marL="983910" indent="-491955" lvl="1">
              <a:lnSpc>
                <a:spcPts val="6380"/>
              </a:lnSpc>
              <a:buFont typeface="Arial"/>
              <a:buChar char="•"/>
            </a:pPr>
            <a:r>
              <a:rPr lang="en-US" sz="455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...</a:t>
            </a:r>
          </a:p>
          <a:p>
            <a:pPr algn="l" marL="983910" indent="-491955" lvl="1">
              <a:lnSpc>
                <a:spcPts val="6380"/>
              </a:lnSpc>
              <a:buFont typeface="Arial"/>
              <a:buChar char="•"/>
            </a:pPr>
            <a:r>
              <a:rPr lang="en-US" sz="455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z =</a:t>
            </a:r>
            <a:r>
              <a:rPr lang="en-US" sz="4557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7596" y="5121346"/>
            <a:ext cx="4244921" cy="112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4"/>
              </a:lnSpc>
            </a:pPr>
            <a:r>
              <a:rPr lang="en-US" sz="658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money vs apple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38002" y="4303709"/>
            <a:ext cx="2889752" cy="1127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24"/>
              </a:lnSpc>
            </a:pPr>
            <a:r>
              <a:rPr lang="en-US" sz="6588">
                <a:solidFill>
                  <a:srgbClr val="0CC0D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P1 vs P2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30009" y="3295524"/>
            <a:ext cx="12137283" cy="5414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Python</a:t>
            </a:r>
          </a:p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Streamlit</a:t>
            </a:r>
          </a:p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WordFreq (lib)</a:t>
            </a:r>
          </a:p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Googl</a:t>
            </a: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 Translator (lib)</a:t>
            </a:r>
          </a:p>
          <a:p>
            <a:pPr algn="l">
              <a:lnSpc>
                <a:spcPts val="860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04900"/>
            <a:ext cx="9353798" cy="148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96"/>
              </a:lnSpc>
            </a:pPr>
            <a:r>
              <a:rPr lang="en-US" sz="10350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TECHNOLOGIES USED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451361" y="3888213"/>
            <a:ext cx="7591274" cy="2567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00"/>
              </a:lnSpc>
            </a:pPr>
            <a:r>
              <a:rPr lang="en-US" sz="8938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SYSTEM LOGIC</a:t>
            </a:r>
          </a:p>
          <a:p>
            <a:pPr algn="ctr">
              <a:lnSpc>
                <a:spcPts val="10100"/>
              </a:lnSpc>
            </a:pPr>
            <a:r>
              <a:rPr lang="en-US" sz="8938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(FLOWCHART)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35031" y="501396"/>
            <a:ext cx="7174003" cy="9284208"/>
            <a:chOff x="0" y="0"/>
            <a:chExt cx="1108339" cy="14343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8339" cy="1434353"/>
            </a:xfrm>
            <a:custGeom>
              <a:avLst/>
              <a:gdLst/>
              <a:ahLst/>
              <a:cxnLst/>
              <a:rect r="r" b="b" t="t" l="l"/>
              <a:pathLst>
                <a:path h="1434353" w="1108339">
                  <a:moveTo>
                    <a:pt x="26979" y="0"/>
                  </a:moveTo>
                  <a:lnTo>
                    <a:pt x="1081360" y="0"/>
                  </a:lnTo>
                  <a:cubicBezTo>
                    <a:pt x="1088516" y="0"/>
                    <a:pt x="1095378" y="2842"/>
                    <a:pt x="1100437" y="7902"/>
                  </a:cubicBezTo>
                  <a:cubicBezTo>
                    <a:pt x="1105497" y="12962"/>
                    <a:pt x="1108339" y="19824"/>
                    <a:pt x="1108339" y="26979"/>
                  </a:cubicBezTo>
                  <a:lnTo>
                    <a:pt x="1108339" y="1407374"/>
                  </a:lnTo>
                  <a:cubicBezTo>
                    <a:pt x="1108339" y="1422274"/>
                    <a:pt x="1096261" y="1434353"/>
                    <a:pt x="1081360" y="1434353"/>
                  </a:cubicBezTo>
                  <a:lnTo>
                    <a:pt x="26979" y="1434353"/>
                  </a:lnTo>
                  <a:cubicBezTo>
                    <a:pt x="12079" y="1434353"/>
                    <a:pt x="0" y="1422274"/>
                    <a:pt x="0" y="1407374"/>
                  </a:cubicBezTo>
                  <a:lnTo>
                    <a:pt x="0" y="26979"/>
                  </a:lnTo>
                  <a:cubicBezTo>
                    <a:pt x="0" y="19824"/>
                    <a:pt x="2842" y="12962"/>
                    <a:pt x="7902" y="7902"/>
                  </a:cubicBezTo>
                  <a:cubicBezTo>
                    <a:pt x="12962" y="2842"/>
                    <a:pt x="19824" y="0"/>
                    <a:pt x="26979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" r="0" b="-13"/>
              </a:stretch>
            </a:blipFill>
            <a:ln w="28575" cap="rnd">
              <a:solidFill>
                <a:srgbClr val="8C52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3990975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10883" y="1842542"/>
            <a:ext cx="8431751" cy="7650431"/>
          </a:xfrm>
          <a:custGeom>
            <a:avLst/>
            <a:gdLst/>
            <a:ahLst/>
            <a:cxnLst/>
            <a:rect r="r" b="b" t="t" l="l"/>
            <a:pathLst>
              <a:path h="7650431" w="8431751">
                <a:moveTo>
                  <a:pt x="0" y="0"/>
                </a:moveTo>
                <a:lnTo>
                  <a:pt x="8431751" y="0"/>
                </a:lnTo>
                <a:lnTo>
                  <a:pt x="8431751" y="7650431"/>
                </a:lnTo>
                <a:lnTo>
                  <a:pt x="0" y="76504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28575" cap="rnd">
            <a:solidFill>
              <a:srgbClr val="8C52FF"/>
            </a:solidFill>
            <a:prstDash val="solid"/>
            <a:round/>
          </a:ln>
        </p:spPr>
      </p:sp>
      <p:sp>
        <p:nvSpPr>
          <p:cNvPr name="TextBox 7" id="7"/>
          <p:cNvSpPr txBox="true"/>
          <p:nvPr/>
        </p:nvSpPr>
        <p:spPr>
          <a:xfrm rot="0">
            <a:off x="-175949" y="4256519"/>
            <a:ext cx="9319949" cy="2630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6"/>
              </a:lnSpc>
            </a:pPr>
            <a:r>
              <a:rPr lang="en-US" sz="9120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SYSTEM STRUCTURE</a:t>
            </a:r>
          </a:p>
          <a:p>
            <a:pPr algn="ctr">
              <a:lnSpc>
                <a:spcPts val="10306"/>
              </a:lnSpc>
            </a:pPr>
            <a:r>
              <a:rPr lang="en-US" sz="9120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(CLASS DIAGRAM)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63014" y="2580541"/>
            <a:ext cx="13897425" cy="613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•The game logic works correctly for valid English words</a:t>
            </a:r>
          </a:p>
          <a:p>
            <a:pPr algn="just">
              <a:lnSpc>
                <a:spcPts val="98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•Score calculation is accurate and consistent</a:t>
            </a:r>
          </a:p>
          <a:p>
            <a:pPr algn="just">
              <a:lnSpc>
                <a:spcPts val="98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•Supports both Player vs Player and Computer modes</a:t>
            </a:r>
          </a:p>
          <a:p>
            <a:pPr algn="just">
              <a:lnSpc>
                <a:spcPts val="98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•Arabic translation is displayed successfully</a:t>
            </a:r>
          </a:p>
          <a:p>
            <a:pPr algn="just">
              <a:lnSpc>
                <a:spcPts val="9899"/>
              </a:lnSpc>
            </a:pPr>
            <a:r>
              <a:rPr lang="en-US" sz="5499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•The application runs smoothly using Streamlit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49876" y="1225748"/>
            <a:ext cx="9090389" cy="129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36"/>
              </a:lnSpc>
            </a:pPr>
            <a:r>
              <a:rPr lang="en-US" sz="8881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PROJECT EVALUATION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0929" y="2935122"/>
            <a:ext cx="15639036" cy="4675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50366" indent="-575183" lvl="1">
              <a:lnSpc>
                <a:spcPts val="7459"/>
              </a:lnSpc>
              <a:buFont typeface="Arial"/>
              <a:buChar char="•"/>
            </a:pPr>
            <a:r>
              <a:rPr lang="en-US" sz="532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Handling invalid words → Using wordFreq dictionary validation</a:t>
            </a:r>
          </a:p>
          <a:p>
            <a:pPr algn="l" marL="1150366" indent="-575183" lvl="1">
              <a:lnSpc>
                <a:spcPts val="7459"/>
              </a:lnSpc>
              <a:buFont typeface="Arial"/>
              <a:buChar char="•"/>
            </a:pPr>
            <a:r>
              <a:rPr lang="en-US" sz="532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Generating random word with same length → Using wordfreq with google translation to validated the words </a:t>
            </a:r>
          </a:p>
          <a:p>
            <a:pPr algn="l" marL="1150366" indent="-575183" lvl="1">
              <a:lnSpc>
                <a:spcPts val="7459"/>
              </a:lnSpc>
              <a:buFont typeface="Arial"/>
              <a:buChar char="•"/>
            </a:pPr>
            <a:r>
              <a:rPr lang="en-US" sz="532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Handling complex Streamlit errors → Preventing common failures  through input sanitization and controlled UI triggers.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90929" y="1085850"/>
            <a:ext cx="10035297" cy="129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36"/>
              </a:lnSpc>
            </a:pPr>
            <a:r>
              <a:rPr lang="en-US" sz="8881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CHALLENGES &amp; SOLUTIONS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1694" y="3075747"/>
            <a:ext cx="12137283" cy="5414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App</a:t>
            </a: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lying loops and conditi</a:t>
            </a: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ons</a:t>
            </a:r>
          </a:p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Working with dictionaries and sets</a:t>
            </a:r>
          </a:p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Implementing OOP d</a:t>
            </a: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esign</a:t>
            </a:r>
          </a:p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Building real web apps with Streamlit</a:t>
            </a:r>
          </a:p>
          <a:p>
            <a:pPr algn="l">
              <a:lnSpc>
                <a:spcPts val="860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04900"/>
            <a:ext cx="9353798" cy="14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96"/>
              </a:lnSpc>
            </a:pPr>
            <a:r>
              <a:rPr lang="en-US" sz="10350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W</a:t>
            </a:r>
            <a:r>
              <a:rPr lang="en-US" sz="10350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HAT WE LEARNED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374541"/>
            <a:ext cx="12137283" cy="5414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07"/>
              </a:lnSpc>
            </a:pPr>
          </a:p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Add difficulty levels</a:t>
            </a:r>
          </a:p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Online multi</a:t>
            </a: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player mode</a:t>
            </a:r>
          </a:p>
          <a:p>
            <a:pPr algn="l" marL="1327448" indent="-663724" lvl="1">
              <a:lnSpc>
                <a:spcPts val="8607"/>
              </a:lnSpc>
              <a:buFont typeface="Arial"/>
              <a:buChar char="•"/>
            </a:pP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Lead</a:t>
            </a:r>
            <a:r>
              <a:rPr lang="en-US" sz="6148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erboard system</a:t>
            </a:r>
          </a:p>
          <a:p>
            <a:pPr algn="l">
              <a:lnSpc>
                <a:spcPts val="860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04900"/>
            <a:ext cx="10452683" cy="14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96"/>
              </a:lnSpc>
            </a:pPr>
            <a:r>
              <a:rPr lang="en-US" sz="10350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FU</a:t>
            </a:r>
            <a:r>
              <a:rPr lang="en-US" sz="10350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TURE IMPROVEMENTS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739714"/>
            <a:ext cx="14155398" cy="6706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3159" indent="-516580" lvl="1">
              <a:lnSpc>
                <a:spcPts val="6699"/>
              </a:lnSpc>
              <a:buFont typeface="Arial"/>
              <a:buChar char="•"/>
            </a:pPr>
            <a:r>
              <a:rPr lang="en-US" sz="4785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WE DEVELOPED AN INTERACTIVE WORD BATTLE GAME USING PYTHON AND STREAMLIT.</a:t>
            </a:r>
          </a:p>
          <a:p>
            <a:pPr algn="l" marL="1033159" indent="-516580" lvl="1">
              <a:lnSpc>
                <a:spcPts val="6699"/>
              </a:lnSpc>
              <a:buFont typeface="Arial"/>
              <a:buChar char="•"/>
            </a:pPr>
            <a:r>
              <a:rPr lang="en-US" sz="4785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THE PROJECT APPLIES OOP CONCEPTS, WORD VALIDATION, AND SCORE CALCULATION.</a:t>
            </a:r>
          </a:p>
          <a:p>
            <a:pPr algn="l" marL="1033159" indent="-516580" lvl="1">
              <a:lnSpc>
                <a:spcPts val="6699"/>
              </a:lnSpc>
              <a:buFont typeface="Arial"/>
              <a:buChar char="•"/>
            </a:pPr>
            <a:r>
              <a:rPr lang="en-US" sz="4785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IT MAKES LEARNING ENGLISH VOCABULARY FUN AND COMPETITIVE.</a:t>
            </a:r>
          </a:p>
          <a:p>
            <a:pPr algn="l" marL="1033159" indent="-516580" lvl="1">
              <a:lnSpc>
                <a:spcPts val="6699"/>
              </a:lnSpc>
              <a:buFont typeface="Arial"/>
              <a:buChar char="•"/>
            </a:pPr>
            <a:r>
              <a:rPr lang="en-US" sz="4785">
                <a:solidFill>
                  <a:srgbClr val="FFFF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THIS PROJECT ENHANCED OUR SKILLS IN PROGRAMMING, LOGIC DESIGN, AND TEAMWORK.</a:t>
            </a:r>
          </a:p>
          <a:p>
            <a:pPr algn="l">
              <a:lnSpc>
                <a:spcPts val="6699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0929" y="793549"/>
            <a:ext cx="7705469" cy="148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96"/>
              </a:lnSpc>
            </a:pPr>
            <a:r>
              <a:rPr lang="en-US" sz="10350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 CONCLUSION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10287000" y="18288000"/>
                </a:lnTo>
                <a:lnTo>
                  <a:pt x="10287000" y="0"/>
                </a:lnTo>
                <a:lnTo>
                  <a:pt x="0" y="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999" t="0" r="-1300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144602" y="214858"/>
            <a:ext cx="1796065" cy="1627683"/>
          </a:xfrm>
          <a:custGeom>
            <a:avLst/>
            <a:gdLst/>
            <a:ahLst/>
            <a:cxnLst/>
            <a:rect r="r" b="b" t="t" l="l"/>
            <a:pathLst>
              <a:path h="1627683" w="1796065">
                <a:moveTo>
                  <a:pt x="0" y="0"/>
                </a:moveTo>
                <a:lnTo>
                  <a:pt x="1796065" y="0"/>
                </a:lnTo>
                <a:lnTo>
                  <a:pt x="1796065" y="1627684"/>
                </a:lnTo>
                <a:lnTo>
                  <a:pt x="0" y="162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46195" y="4055207"/>
            <a:ext cx="4272537" cy="4272537"/>
          </a:xfrm>
          <a:custGeom>
            <a:avLst/>
            <a:gdLst/>
            <a:ahLst/>
            <a:cxnLst/>
            <a:rect r="r" b="b" t="t" l="l"/>
            <a:pathLst>
              <a:path h="4272537" w="4272537">
                <a:moveTo>
                  <a:pt x="0" y="0"/>
                </a:moveTo>
                <a:lnTo>
                  <a:pt x="4272537" y="0"/>
                </a:lnTo>
                <a:lnTo>
                  <a:pt x="4272537" y="4272537"/>
                </a:lnTo>
                <a:lnTo>
                  <a:pt x="0" y="42725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8C52FF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369268" y="4055207"/>
            <a:ext cx="4272537" cy="4272537"/>
          </a:xfrm>
          <a:custGeom>
            <a:avLst/>
            <a:gdLst/>
            <a:ahLst/>
            <a:cxnLst/>
            <a:rect r="r" b="b" t="t" l="l"/>
            <a:pathLst>
              <a:path h="4272537" w="4272537">
                <a:moveTo>
                  <a:pt x="0" y="0"/>
                </a:moveTo>
                <a:lnTo>
                  <a:pt x="4272537" y="0"/>
                </a:lnTo>
                <a:lnTo>
                  <a:pt x="4272537" y="4272537"/>
                </a:lnTo>
                <a:lnTo>
                  <a:pt x="0" y="42725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w="28575" cap="sq">
            <a:solidFill>
              <a:srgbClr val="8C52FF"/>
            </a:solidFill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0" y="2854380"/>
            <a:ext cx="7011072" cy="100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5"/>
              </a:lnSpc>
            </a:pPr>
            <a:r>
              <a:rPr lang="en-US" sz="6942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GITHUB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76928" y="2854380"/>
            <a:ext cx="7011072" cy="100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5"/>
              </a:lnSpc>
            </a:pPr>
            <a:r>
              <a:rPr lang="en-US" sz="6942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PLAY NOW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46749" y="745780"/>
            <a:ext cx="7194502" cy="164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1"/>
              </a:lnSpc>
            </a:pPr>
            <a:r>
              <a:rPr lang="en-US" sz="11373">
                <a:solidFill>
                  <a:srgbClr val="8C52FF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DAHB-xzDOgQ</dc:identifier>
  <dcterms:modified xsi:type="dcterms:W3CDTF">2011-08-01T06:04:30Z</dcterms:modified>
  <cp:revision>1</cp:revision>
  <dc:title>WORDS WAR GAME</dc:title>
</cp:coreProperties>
</file>